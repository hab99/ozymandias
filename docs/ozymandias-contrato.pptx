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32d5d0e-dcce-bf06-626f-aa188caa381b}">
          <p14:sldIdLst>
            <p14:sldId id="256"/>
          </p14:sldIdLst>
        </p14:section>
        <p14:section name="O projeto" id="{47119f5e-6647-7f79-c085-7f3e8ffab4d5}">
          <p14:sldIdLst>
            <p14:sldId id="257"/>
            <p14:sldId id="258"/>
            <p14:sldId id="259"/>
            <p14:sldId id="260"/>
            <p14:sldId id="261"/>
          </p14:sldIdLst>
        </p14:section>
        <p14:section name="Arquitetura" id="{255a0888-e430-1d03-7b72-e448783aabca}">
          <p14:sldIdLst>
            <p14:sldId id="262"/>
            <p14:sldId id="263"/>
            <p14:sldId id="264"/>
          </p14:sldIdLst>
        </p14:section>
        <p14:section name="Roteiro" id="{b7b4c322-60f7-d1d5-e0e1-bbd1578efa3e}">
          <p14:sldIdLst>
            <p14:sldId id="265"/>
            <p14:sldId id="266"/>
            <p14:sldId id="267"/>
            <p14:sldId id="268"/>
            <p14:sldId id="269"/>
          </p14:sldIdLst>
        </p14:section>
        <p14:section name="Contrato" id="{8435ac78-c4b0-0de7-8db1-e4e3343f4930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deck é o contrato do projeto: escopo, decisões e o caminho de versões. Mudanças de escopo só entram revisando este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 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Ozymandias · Contrato do projeto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Ozymandias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Contrato do projeto: do MVP à versão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Guilherme Nascimento Silva  ·  outubro de 2026</a:t>
            </a:r>
            <a:endParaRPr lang="en-US" sz="1400" dirty="0"/>
          </a:p>
        </p:txBody>
      </p:sp>
      <p:sp>
        <p:nvSpPr>
          <p:cNvPr id="5" name="anel"/>
          <p:cNvSpPr/>
          <p:nvPr/>
        </p:nvSpPr>
        <p:spPr>
          <a:xfrm>
            <a:off x="9052560" y="1463040"/>
            <a:ext cx="2926080" cy="2926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icone contra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3317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Uma plataforma para uma agência de automação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O cliente pede orçamento, recebe a proposta, paga 50% + 50% e acompanha cada fase. Os departamentos da agência operam no mesmo sistema. Uma API em Python é a única dona das regras.</a:t>
            </a:r>
            <a:endParaRPr lang="en-US" sz="1800" dirty="0"/>
          </a:p>
        </p:txBody>
      </p:sp>
      <p:sp>
        <p:nvSpPr>
          <p:cNvPr id="4" name="card Cliente"/>
          <p:cNvSpPr/>
          <p:nvPr/>
        </p:nvSpPr>
        <p:spPr>
          <a:xfrm>
            <a:off x="548640" y="251460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5" name="Cliente circle"/>
          <p:cNvSpPr/>
          <p:nvPr/>
        </p:nvSpPr>
        <p:spPr>
          <a:xfrm>
            <a:off x="868680" y="27889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lien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94692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14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Cadastro, solicitação de orçamento, aceite da proposta, pagamento e acompanhamento das fases no portal</a:t>
            </a:r>
            <a:endParaRPr lang="en-US" sz="1700" dirty="0"/>
          </a:p>
        </p:txBody>
      </p:sp>
      <p:sp>
        <p:nvSpPr>
          <p:cNvPr id="9" name="card Departamentos"/>
          <p:cNvSpPr/>
          <p:nvPr/>
        </p:nvSpPr>
        <p:spPr>
          <a:xfrm>
            <a:off x="4297680" y="251460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0" name="Departamentos circle"/>
          <p:cNvSpPr/>
          <p:nvPr/>
        </p:nvSpPr>
        <p:spPr>
          <a:xfrm>
            <a:off x="4617720" y="27889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Departamento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728" y="294692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Departamentos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114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Comercial, financeiro, TI e marketing, cada um com seu papel e suas permissões</a:t>
            </a:r>
            <a:endParaRPr lang="en-US" sz="1700" dirty="0"/>
          </a:p>
        </p:txBody>
      </p:sp>
      <p:sp>
        <p:nvSpPr>
          <p:cNvPr id="14" name="card API (o coração)"/>
          <p:cNvSpPr/>
          <p:nvPr/>
        </p:nvSpPr>
        <p:spPr>
          <a:xfrm>
            <a:off x="8046720" y="251460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5" name="API (o coração) circle"/>
          <p:cNvSpPr/>
          <p:nvPr/>
        </p:nvSpPr>
        <p:spPr>
          <a:xfrm>
            <a:off x="8366760" y="27889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API (o coração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768" y="294692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(o coração)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114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Nenhum projeto pula etapa, nenhum pagamento é cobrado duas vezes, nenhuma notificação se perde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que as vagas pedem guiou cada escolha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APIs REST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SQL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testes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mensageria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segurança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AWS</a:t>
            </a:r>
            <a:endParaRPr lang="en-US" sz="1600" dirty="0"/>
          </a:p>
        </p:txBody>
      </p:sp>
      <p:sp>
        <p:nvSpPr>
          <p:cNvPr id="15" name="destaque junior"/>
          <p:cNvSpPr/>
          <p:nvPr/>
        </p:nvSpPr>
        <p:spPr>
          <a:xfrm>
            <a:off x="8275320" y="141732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1691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das vagas de back-end são de júnior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794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 portfólio precisa me colocar na conversa de pleno.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Fonte: 138 vagas de back-end na Gupy (jul–out/2026), % das vagas que citam o tema. Detalhes em docs/pesquisa-de-mercado-2026-10.md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Escopo: o que entra e o que fica de fora</a:t>
            </a:r>
            <a:endParaRPr lang="en-US" sz="3400" dirty="0"/>
          </a:p>
        </p:txBody>
      </p:sp>
      <p:sp>
        <p:nvSpPr>
          <p:cNvPr id="3" name="card entra"/>
          <p:cNvSpPr/>
          <p:nvPr/>
        </p:nvSpPr>
        <p:spPr>
          <a:xfrm>
            <a:off x="548640" y="1371600"/>
            <a:ext cx="6720840" cy="4754880"/>
          </a:xfrm>
          <a:prstGeom prst="roundRect">
            <a:avLst>
              <a:gd name="adj" fmla="val 1538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</a:t>
            </a:r>
            <a:endParaRPr lang="en-US" sz="2200" dirty="0"/>
          </a:p>
        </p:txBody>
      </p:sp>
      <p:pic>
        <p:nvPicPr>
          <p:cNvPr id="5" name="check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12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1579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Back-end Python: FastAPI, PostgreSQL, SQLAlchemy, Alembic</a:t>
            </a:r>
            <a:endParaRPr lang="en-US" sz="1500" dirty="0"/>
          </a:p>
        </p:txBody>
      </p:sp>
      <p:pic>
        <p:nvPicPr>
          <p:cNvPr id="7" name="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700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6151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Máquina de estados com histórico de eventos</a:t>
            </a:r>
            <a:endParaRPr lang="en-US" sz="1500" dirty="0"/>
          </a:p>
        </p:txBody>
      </p:sp>
      <p:pic>
        <p:nvPicPr>
          <p:cNvPr id="9" name="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2724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0723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Autenticação própria (JWT) e papéis (RBAC)</a:t>
            </a:r>
            <a:endParaRPr lang="en-US" sz="1500" dirty="0"/>
          </a:p>
        </p:txBody>
      </p:sp>
      <p:pic>
        <p:nvPicPr>
          <p:cNvPr id="11" name="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8444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5295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Stripe em modo teste, confirmação por webhook</a:t>
            </a:r>
            <a:endParaRPr lang="en-US" sz="1500" dirty="0"/>
          </a:p>
        </p:txBody>
      </p:sp>
      <p:pic>
        <p:nvPicPr>
          <p:cNvPr id="13" name="check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4164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25880" y="39867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Outbox no Postgres + worker</a:t>
            </a:r>
            <a:endParaRPr lang="en-US" sz="1500" dirty="0"/>
          </a:p>
        </p:txBody>
      </p:sp>
      <p:pic>
        <p:nvPicPr>
          <p:cNvPr id="15" name="check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98848"/>
            <a:ext cx="237744" cy="2377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325880" y="44439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AWS: EC2, S3 e IAM</a:t>
            </a:r>
            <a:endParaRPr lang="en-US" sz="1500" dirty="0"/>
          </a:p>
        </p:txBody>
      </p:sp>
      <p:pic>
        <p:nvPicPr>
          <p:cNvPr id="17" name="check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956048"/>
            <a:ext cx="237744" cy="237744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325880" y="49011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GitLab CI/CD com espelho no GitHub</a:t>
            </a:r>
            <a:endParaRPr lang="en-US" sz="1500" dirty="0"/>
          </a:p>
        </p:txBody>
      </p:sp>
      <p:pic>
        <p:nvPicPr>
          <p:cNvPr id="19" name="check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413248"/>
            <a:ext cx="237744" cy="237744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325880" y="53583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Portal Next.js mínimo, guiado pelo Claude Code</a:t>
            </a:r>
            <a:endParaRPr lang="en-US" sz="1500" dirty="0"/>
          </a:p>
        </p:txBody>
      </p:sp>
      <p:sp>
        <p:nvSpPr>
          <p:cNvPr id="21" name="card fora"/>
          <p:cNvSpPr/>
          <p:nvPr/>
        </p:nvSpPr>
        <p:spPr>
          <a:xfrm>
            <a:off x="7543800" y="1371600"/>
            <a:ext cx="4096512" cy="475488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/>
        </p:spPr>
      </p:sp>
      <p:sp>
        <p:nvSpPr>
          <p:cNvPr id="22" name="Text 12"/>
          <p:cNvSpPr txBox="1"/>
          <p:nvPr/>
        </p:nvSpPr>
        <p:spPr>
          <a:xfrm>
            <a:off x="790956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Fica de fora</a:t>
            </a:r>
            <a:endParaRPr lang="en-US" sz="2200" dirty="0"/>
          </a:p>
        </p:txBody>
      </p:sp>
      <p:pic>
        <p:nvPicPr>
          <p:cNvPr id="23" name="x 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9560" y="2212848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8321040" y="21579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Salesforce</a:t>
            </a:r>
            <a:endParaRPr lang="en-US" sz="1500" dirty="0"/>
          </a:p>
        </p:txBody>
      </p:sp>
      <p:pic>
        <p:nvPicPr>
          <p:cNvPr id="25" name="x 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0" y="2761488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8321040" y="27066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Azure e Kubernetes</a:t>
            </a:r>
            <a:endParaRPr lang="en-US" sz="1500" dirty="0"/>
          </a:p>
        </p:txBody>
      </p:sp>
      <p:pic>
        <p:nvPicPr>
          <p:cNvPr id="27" name="x 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9560" y="3310128"/>
            <a:ext cx="237744" cy="237744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8321040" y="32552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Várias formas de pagamento</a:t>
            </a:r>
            <a:endParaRPr lang="en-US" sz="1500" dirty="0"/>
          </a:p>
        </p:txBody>
      </p:sp>
      <p:pic>
        <p:nvPicPr>
          <p:cNvPr id="29" name="x 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9560" y="3858768"/>
            <a:ext cx="237744" cy="237744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8321040" y="38039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Terraform e SQS (ficam para a v2)</a:t>
            </a:r>
            <a:endParaRPr lang="en-US" sz="1500" dirty="0"/>
          </a:p>
        </p:txBody>
      </p:sp>
      <p:pic>
        <p:nvPicPr>
          <p:cNvPr id="31" name="x 4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9560" y="4407408"/>
            <a:ext cx="237744" cy="237744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8321040" y="43525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Front-end elaborado e CSS próprio</a:t>
            </a:r>
            <a:endParaRPr lang="en-US" sz="1500" dirty="0"/>
          </a:p>
        </p:txBody>
      </p:sp>
      <p:pic>
        <p:nvPicPr>
          <p:cNvPr id="33" name="x 5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9560" y="4956048"/>
            <a:ext cx="237744" cy="237744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8321040" y="4901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Dinheiro real e CNPJ/CPF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Seis papéis, uma única API</a:t>
            </a:r>
            <a:endParaRPr lang="en-US" sz="3400" dirty="0"/>
          </a:p>
        </p:txBody>
      </p:sp>
      <p:sp>
        <p:nvSpPr>
          <p:cNvPr id="3" name="card Cliente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Cliente circle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Clien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8277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46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Solicita orçamento, aceita ou recusa a proposta, paga e homologa</a:t>
            </a:r>
            <a:endParaRPr lang="en-US" sz="1500" dirty="0"/>
          </a:p>
        </p:txBody>
      </p:sp>
      <p:sp>
        <p:nvSpPr>
          <p:cNvPr id="8" name="card Comercial"/>
          <p:cNvSpPr/>
          <p:nvPr/>
        </p:nvSpPr>
        <p:spPr>
          <a:xfrm>
            <a:off x="429768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Comercial circle"/>
          <p:cNvSpPr/>
          <p:nvPr/>
        </p:nvSpPr>
        <p:spPr>
          <a:xfrm>
            <a:off x="457200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omerci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63" y="18277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746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Envia e revisa propostas com prazo e valor</a:t>
            </a:r>
            <a:endParaRPr lang="en-US" sz="1500" dirty="0"/>
          </a:p>
        </p:txBody>
      </p:sp>
      <p:sp>
        <p:nvSpPr>
          <p:cNvPr id="13" name="card Financeiro"/>
          <p:cNvSpPr/>
          <p:nvPr/>
        </p:nvSpPr>
        <p:spPr>
          <a:xfrm>
            <a:off x="804672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Financeiro circle"/>
          <p:cNvSpPr/>
          <p:nvPr/>
        </p:nvSpPr>
        <p:spPr>
          <a:xfrm>
            <a:off x="832104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inanceir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103" y="182770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746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Acompanha cobranças, pagamentos e vencidos</a:t>
            </a:r>
            <a:endParaRPr lang="en-US" sz="1500" dirty="0"/>
          </a:p>
        </p:txBody>
      </p:sp>
      <p:sp>
        <p:nvSpPr>
          <p:cNvPr id="18" name="card TI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I circle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I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20514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Conduz desenvolvimento, homologação e entrega</a:t>
            </a:r>
            <a:endParaRPr lang="en-US" sz="1500" dirty="0"/>
          </a:p>
        </p:txBody>
      </p:sp>
      <p:sp>
        <p:nvSpPr>
          <p:cNvPr id="23" name="card Marketing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Marketing circle"/>
          <p:cNvSpPr/>
          <p:nvPr/>
        </p:nvSpPr>
        <p:spPr>
          <a:xfrm>
            <a:off x="457200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Market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063" y="420514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Só leitura: funil comercial e canais de origem</a:t>
            </a:r>
            <a:endParaRPr lang="en-US" sz="1500" dirty="0"/>
          </a:p>
        </p:txBody>
      </p:sp>
      <p:sp>
        <p:nvSpPr>
          <p:cNvPr id="28" name="card Admin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9" name="Admin circle"/>
          <p:cNvSpPr/>
          <p:nvPr/>
        </p:nvSpPr>
        <p:spPr>
          <a:xfrm>
            <a:off x="832104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Admin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103" y="4205143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Encerra projetos com motivo e reprocessa falhas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jornada do cliente em seis fases</a:t>
            </a:r>
            <a:endParaRPr lang="en-US" sz="3400" dirty="0"/>
          </a:p>
        </p:txBody>
      </p:sp>
      <p:sp>
        <p:nvSpPr>
          <p:cNvPr id="3" name="linha do tempo"/>
          <p:cNvSpPr/>
          <p:nvPr/>
        </p:nvSpPr>
        <p:spPr>
          <a:xfrm>
            <a:off x="1005840" y="2112264"/>
            <a:ext cx="1016812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fase 1"/>
          <p:cNvSpPr/>
          <p:nvPr/>
        </p:nvSpPr>
        <p:spPr>
          <a:xfrm>
            <a:off x="1097280" y="1783080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Solicitação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Cliente descreve o processo a automatizar</a:t>
            </a:r>
            <a:endParaRPr lang="en-US" sz="1400" dirty="0"/>
          </a:p>
        </p:txBody>
      </p:sp>
      <p:sp>
        <p:nvSpPr>
          <p:cNvPr id="8" name="fase 2"/>
          <p:cNvSpPr/>
          <p:nvPr/>
        </p:nvSpPr>
        <p:spPr>
          <a:xfrm>
            <a:off x="2962656" y="1783080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6265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414016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459736" y="320040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Comercial envia prazo e valor; cliente aceita, recusa ou pede revisão</a:t>
            </a:r>
            <a:endParaRPr lang="en-US" sz="1400" dirty="0"/>
          </a:p>
        </p:txBody>
      </p:sp>
      <p:sp>
        <p:nvSpPr>
          <p:cNvPr id="12" name="fase 3"/>
          <p:cNvSpPr/>
          <p:nvPr/>
        </p:nvSpPr>
        <p:spPr>
          <a:xfrm>
            <a:off x="4828032" y="1783080"/>
            <a:ext cx="658368" cy="65836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50%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25112" y="320040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Webhook do Stripe confirma o pagamento</a:t>
            </a:r>
            <a:endParaRPr lang="en-US" sz="1400" dirty="0"/>
          </a:p>
        </p:txBody>
      </p:sp>
      <p:sp>
        <p:nvSpPr>
          <p:cNvPr id="16" name="fase 4"/>
          <p:cNvSpPr/>
          <p:nvPr/>
        </p:nvSpPr>
        <p:spPr>
          <a:xfrm>
            <a:off x="6693408" y="1783080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Desenvolvimento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90488" y="320040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TI constrói; andamento visível no portal</a:t>
            </a:r>
            <a:endParaRPr lang="en-US" sz="1400" dirty="0"/>
          </a:p>
        </p:txBody>
      </p:sp>
      <p:sp>
        <p:nvSpPr>
          <p:cNvPr id="20" name="fase 5"/>
          <p:cNvSpPr/>
          <p:nvPr/>
        </p:nvSpPr>
        <p:spPr>
          <a:xfrm>
            <a:off x="8558784" y="1783080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58784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010144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Homologação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055864" y="320040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Cliente valida ou pede ajustes</a:t>
            </a:r>
            <a:endParaRPr lang="en-US" sz="1400" dirty="0"/>
          </a:p>
        </p:txBody>
      </p:sp>
      <p:sp>
        <p:nvSpPr>
          <p:cNvPr id="24" name="fase 6"/>
          <p:cNvSpPr/>
          <p:nvPr/>
        </p:nvSpPr>
        <p:spPr>
          <a:xfrm>
            <a:off x="10424160" y="1783080"/>
            <a:ext cx="658368" cy="65836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416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20040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Pagamento final de 50% libera a entrega</a:t>
            </a:r>
            <a:endParaRPr lang="en-US" sz="1400" dirty="0"/>
          </a:p>
        </p:txBody>
      </p:sp>
      <p:sp>
        <p:nvSpPr>
          <p:cNvPr id="28" name="regra da maquina"/>
          <p:cNvSpPr/>
          <p:nvPr/>
        </p:nvSpPr>
        <p:spPr>
          <a:xfrm>
            <a:off x="548640" y="42062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343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 máquina de estados mora no código como dado: nenhuma fase é pulada, o ator errado é recusado e cada transição grava um evento no histórico.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Arquitetura: a API é a única dona do estado</a:t>
            </a:r>
            <a:endParaRPr lang="en-US" sz="3400" dirty="0"/>
          </a:p>
        </p:txBody>
      </p:sp>
      <p:sp>
        <p:nvSpPr>
          <p:cNvPr id="3" name="caixa AWS"/>
          <p:cNvSpPr/>
          <p:nvPr/>
        </p:nvSpPr>
        <p:spPr>
          <a:xfrm>
            <a:off x="2514600" y="1325880"/>
            <a:ext cx="676656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7432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AWS · EC2 (Docker Compose)</a:t>
            </a:r>
            <a:endParaRPr lang="en-US" sz="1300" dirty="0"/>
          </a:p>
        </p:txBody>
      </p:sp>
      <p:sp>
        <p:nvSpPr>
          <p:cNvPr id="5" name="navegador"/>
          <p:cNvSpPr/>
          <p:nvPr/>
        </p:nvSpPr>
        <p:spPr>
          <a:xfrm>
            <a:off x="548640" y="20116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Navegador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cliente e equipe</a:t>
            </a:r>
            <a:endParaRPr lang="en-US" sz="1500" dirty="0"/>
          </a:p>
        </p:txBody>
      </p:sp>
      <p:sp>
        <p:nvSpPr>
          <p:cNvPr id="7" name="portal"/>
          <p:cNvSpPr/>
          <p:nvPr/>
        </p:nvSpPr>
        <p:spPr>
          <a:xfrm>
            <a:off x="278892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803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Portal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Next.js</a:t>
            </a:r>
            <a:endParaRPr lang="en-US" sz="1500" dirty="0"/>
          </a:p>
        </p:txBody>
      </p:sp>
      <p:sp>
        <p:nvSpPr>
          <p:cNvPr id="9" name="api"/>
          <p:cNvSpPr/>
          <p:nvPr/>
        </p:nvSpPr>
        <p:spPr>
          <a:xfrm>
            <a:off x="507492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FastAPI · JSON</a:t>
            </a:r>
            <a:endParaRPr lang="en-US" sz="1500" dirty="0"/>
          </a:p>
        </p:txBody>
      </p:sp>
      <p:sp>
        <p:nvSpPr>
          <p:cNvPr id="11" name="postgres"/>
          <p:cNvSpPr/>
          <p:nvPr/>
        </p:nvSpPr>
        <p:spPr>
          <a:xfrm>
            <a:off x="5074920" y="402336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66360" y="4023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estado, eventos, outbox</a:t>
            </a:r>
            <a:endParaRPr lang="en-US" sz="1500" dirty="0"/>
          </a:p>
        </p:txBody>
      </p:sp>
      <p:sp>
        <p:nvSpPr>
          <p:cNvPr id="13" name="worker"/>
          <p:cNvSpPr/>
          <p:nvPr/>
        </p:nvSpPr>
        <p:spPr>
          <a:xfrm>
            <a:off x="7315200" y="402336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4023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Worker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lê a outbox</a:t>
            </a:r>
            <a:endParaRPr lang="en-US" sz="1500" dirty="0"/>
          </a:p>
        </p:txBody>
      </p:sp>
      <p:sp>
        <p:nvSpPr>
          <p:cNvPr id="15" name="stripe"/>
          <p:cNvSpPr/>
          <p:nvPr/>
        </p:nvSpPr>
        <p:spPr>
          <a:xfrm>
            <a:off x="9692640" y="2011680"/>
            <a:ext cx="1947672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4080" y="2011680"/>
            <a:ext cx="1764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Stripe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modo teste</a:t>
            </a:r>
            <a:endParaRPr lang="en-US" sz="1500" dirty="0"/>
          </a:p>
        </p:txBody>
      </p:sp>
      <p:sp>
        <p:nvSpPr>
          <p:cNvPr id="17" name="s3"/>
          <p:cNvSpPr/>
          <p:nvPr/>
        </p:nvSpPr>
        <p:spPr>
          <a:xfrm>
            <a:off x="9692640" y="4023360"/>
            <a:ext cx="194767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84080" y="402336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S3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anexos · PDF · backup</a:t>
            </a:r>
            <a:endParaRPr lang="en-US" sz="1500" dirty="0"/>
          </a:p>
        </p:txBody>
      </p:sp>
      <p:sp>
        <p:nvSpPr>
          <p:cNvPr id="19" name="gitlab"/>
          <p:cNvSpPr/>
          <p:nvPr/>
        </p:nvSpPr>
        <p:spPr>
          <a:xfrm>
            <a:off x="548640" y="4023360"/>
            <a:ext cx="160020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23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GitLab CI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deploy via OIDC</a:t>
            </a:r>
            <a:endParaRPr lang="en-US" sz="1500" dirty="0"/>
          </a:p>
        </p:txBody>
      </p:sp>
      <p:sp>
        <p:nvSpPr>
          <p:cNvPr id="21" name="seta navegador portal"/>
          <p:cNvSpPr/>
          <p:nvPr/>
        </p:nvSpPr>
        <p:spPr>
          <a:xfrm>
            <a:off x="2148840" y="2468880"/>
            <a:ext cx="64008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seta portal api"/>
          <p:cNvSpPr/>
          <p:nvPr/>
        </p:nvSpPr>
        <p:spPr>
          <a:xfrm>
            <a:off x="4617720" y="2468880"/>
            <a:ext cx="45720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seta webhook"/>
          <p:cNvSpPr/>
          <p:nvPr/>
        </p:nvSpPr>
        <p:spPr>
          <a:xfrm>
            <a:off x="6903720" y="2468880"/>
            <a:ext cx="27889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headEnd type="triangl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758952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webhook</a:t>
            </a:r>
            <a:endParaRPr lang="en-US" sz="1200" dirty="0"/>
          </a:p>
        </p:txBody>
      </p:sp>
      <p:sp>
        <p:nvSpPr>
          <p:cNvPr id="25" name="seta api postgres"/>
          <p:cNvSpPr/>
          <p:nvPr/>
        </p:nvSpPr>
        <p:spPr>
          <a:xfrm>
            <a:off x="5989320" y="2926080"/>
            <a:ext cx="0" cy="109728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seta worker postgres"/>
          <p:cNvSpPr/>
          <p:nvPr/>
        </p:nvSpPr>
        <p:spPr>
          <a:xfrm>
            <a:off x="6903720" y="4526280"/>
            <a:ext cx="41148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headEnd type="triangle"/>
            <a:tailEnd type="none"/>
          </a:ln>
        </p:spPr>
      </p:sp>
      <p:sp>
        <p:nvSpPr>
          <p:cNvPr id="27" name="seta worker s3"/>
          <p:cNvSpPr/>
          <p:nvPr/>
        </p:nvSpPr>
        <p:spPr>
          <a:xfrm>
            <a:off x="9052560" y="4526280"/>
            <a:ext cx="64008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seta deploy"/>
          <p:cNvSpPr/>
          <p:nvPr/>
        </p:nvSpPr>
        <p:spPr>
          <a:xfrm>
            <a:off x="2148840" y="4526280"/>
            <a:ext cx="36576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IAM: a EC2 só acessa o próprio bucket; o pipeline só faz deploy; nenhuma chave no código. O portal não tem regra de negócio: tudo passa pela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Stack e o porquê de cada escolha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49040"/>
                <a:gridCol w="56967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Camada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Escolha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Por quê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Back-end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· FastAPI · Pydantic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Meu ponto forte; Python em 34% das vagas de back-end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Banco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· SQLAlchemy 2 · Alembic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Domínio relacional; SQL em 86% das vagas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Pagamento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Stripe (modo teste) + webhook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Idempotência e assinatura, sem dinheiro real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Integração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Outbox no Postgres + worker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Nada se perde se um serviço externo cai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Front-end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Next.js + shadcn/ui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React em 26% das vagas Python; guiado por IA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pytest · testcontainers · Playwright · k6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Testes em 71% das vagas; desempenho medido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CI/CD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GitLab CI + espelho no GitHub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Ferramenta que já uso; vitrine onde o recrutador procura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Nuvem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AWS: EC2 · S3 · IAM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AWS em 45% das vagas; até R$ 60 por mês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Três serviços da AWS, usados a fundo</a:t>
            </a:r>
            <a:endParaRPr lang="en-US" sz="3400" dirty="0"/>
          </a:p>
        </p:txBody>
      </p:sp>
      <p:sp>
        <p:nvSpPr>
          <p:cNvPr id="3" name="card EC2"/>
          <p:cNvSpPr/>
          <p:nvPr/>
        </p:nvSpPr>
        <p:spPr>
          <a:xfrm>
            <a:off x="54864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EC2 circle"/>
          <p:cNvSpPr/>
          <p:nvPr/>
        </p:nvSpPr>
        <p:spPr>
          <a:xfrm>
            <a:off x="868680" y="16459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C2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1803928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 servidor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Máquina pequena com Docker Compose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API, worker, portal e Postgres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HTTPS e acesso SSH restrito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Deploy automático pelo GitLab</a:t>
            </a:r>
            <a:endParaRPr lang="en-US" sz="1600" dirty="0"/>
          </a:p>
        </p:txBody>
      </p:sp>
      <p:sp>
        <p:nvSpPr>
          <p:cNvPr id="9" name="card S3"/>
          <p:cNvSpPr/>
          <p:nvPr/>
        </p:nvSpPr>
        <p:spPr>
          <a:xfrm>
            <a:off x="429768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0" name="S3 circle"/>
          <p:cNvSpPr/>
          <p:nvPr/>
        </p:nvSpPr>
        <p:spPr>
          <a:xfrm>
            <a:off x="4617720" y="16459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3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728" y="180392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645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Os arquivos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60604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Anexos do cliente por URL assinada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PDF da proposta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Backup diário do Postgres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Eventos em Parquet para o Databricks</a:t>
            </a:r>
            <a:endParaRPr lang="en-US" sz="1600" dirty="0"/>
          </a:p>
        </p:txBody>
      </p:sp>
      <p:sp>
        <p:nvSpPr>
          <p:cNvPr id="15" name="card IAM"/>
          <p:cNvSpPr/>
          <p:nvPr/>
        </p:nvSpPr>
        <p:spPr>
          <a:xfrm>
            <a:off x="804672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6" name="IAM circle"/>
          <p:cNvSpPr/>
          <p:nvPr/>
        </p:nvSpPr>
        <p:spPr>
          <a:xfrm>
            <a:off x="8366760" y="16459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AM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768" y="180392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89720" y="1645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9189720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governança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60604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 da EC2 só no próprio bucket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Pipeline entra por OIDC, sem chave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Menor privilégio, políticas versionadas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MFA no root e alerta de orçamento</a:t>
            </a:r>
            <a:endParaRPr lang="en-US" sz="1600" dirty="0"/>
          </a:p>
        </p:txBody>
      </p:sp>
      <p:sp>
        <p:nvSpPr>
          <p:cNvPr id="21" name="custo"/>
          <p:cNvSpPr/>
          <p:nvPr/>
        </p:nvSpPr>
        <p:spPr>
          <a:xfrm>
            <a:off x="548640" y="544068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accent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22960" y="5440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Custo: teto de R$ 60 por mês. A AWS cobra pelo tempo ligado, não pelo tráfego. EC2 t4g.micro + disco + IP público ≈ US$ 11: no limite, conferir na calculadora.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 roteiro, peça por peça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Cada versão termina com algo que funciona e pode ser mostrado sozinho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 fundação à versão 3</a:t>
            </a:r>
            <a:endParaRPr lang="en-US" sz="3400" dirty="0"/>
          </a:p>
        </p:txBody>
      </p:sp>
      <p:sp>
        <p:nvSpPr>
          <p:cNvPr id="3" name="card Peça 0"/>
          <p:cNvSpPr/>
          <p:nvPr/>
        </p:nvSpPr>
        <p:spPr>
          <a:xfrm>
            <a:off x="548640" y="150876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4" name="Peça 0 circl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Peça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 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Semana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Fundação</a:t>
            </a:r>
            <a:endParaRPr lang="en-US" sz="1500" dirty="0"/>
          </a:p>
        </p:txBody>
      </p:sp>
      <p:sp>
        <p:nvSpPr>
          <p:cNvPr id="9" name="seta versao 0"/>
          <p:cNvSpPr/>
          <p:nvPr/>
        </p:nvSpPr>
        <p:spPr>
          <a:xfrm>
            <a:off x="2624328" y="3017520"/>
            <a:ext cx="16459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card MVP"/>
          <p:cNvSpPr/>
          <p:nvPr/>
        </p:nvSpPr>
        <p:spPr>
          <a:xfrm>
            <a:off x="2807208" y="150876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1" name="MVP circle"/>
          <p:cNvSpPr/>
          <p:nvPr/>
        </p:nvSpPr>
        <p:spPr>
          <a:xfrm>
            <a:off x="308152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MV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147" y="19366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1528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3081528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Semanas 1–6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081528" y="3520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Jornada principal pela API, local</a:t>
            </a:r>
            <a:endParaRPr lang="en-US" sz="1500" dirty="0"/>
          </a:p>
        </p:txBody>
      </p:sp>
      <p:sp>
        <p:nvSpPr>
          <p:cNvPr id="16" name="seta versao 1"/>
          <p:cNvSpPr/>
          <p:nvPr/>
        </p:nvSpPr>
        <p:spPr>
          <a:xfrm>
            <a:off x="4882896" y="3017520"/>
            <a:ext cx="16459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card v1"/>
          <p:cNvSpPr/>
          <p:nvPr/>
        </p:nvSpPr>
        <p:spPr>
          <a:xfrm>
            <a:off x="5065776" y="150876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/>
        </p:spPr>
      </p:sp>
      <p:sp>
        <p:nvSpPr>
          <p:cNvPr id="18" name="v1 circle"/>
          <p:cNvSpPr/>
          <p:nvPr/>
        </p:nvSpPr>
        <p:spPr>
          <a:xfrm>
            <a:off x="5340096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v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715" y="193669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40096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5340096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Semanas 7–12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340096" y="3520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Completa e publicada na web</a:t>
            </a:r>
            <a:endParaRPr lang="en-US" sz="1500" dirty="0"/>
          </a:p>
        </p:txBody>
      </p:sp>
      <p:sp>
        <p:nvSpPr>
          <p:cNvPr id="23" name="seta versao 2"/>
          <p:cNvSpPr/>
          <p:nvPr/>
        </p:nvSpPr>
        <p:spPr>
          <a:xfrm>
            <a:off x="7141464" y="3017520"/>
            <a:ext cx="16459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card v2"/>
          <p:cNvSpPr/>
          <p:nvPr/>
        </p:nvSpPr>
        <p:spPr>
          <a:xfrm>
            <a:off x="7324344" y="150876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5" name="v2 circle"/>
          <p:cNvSpPr/>
          <p:nvPr/>
        </p:nvSpPr>
        <p:spPr>
          <a:xfrm>
            <a:off x="7598664" y="17830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v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283" y="1936699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98664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600" dirty="0"/>
          </a:p>
        </p:txBody>
      </p:sp>
      <p:sp>
        <p:nvSpPr>
          <p:cNvPr id="28" name="Text 22"/>
          <p:cNvSpPr txBox="1"/>
          <p:nvPr/>
        </p:nvSpPr>
        <p:spPr>
          <a:xfrm>
            <a:off x="7598664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Depois de publicar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598664" y="3520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Escala e confiabilidade</a:t>
            </a:r>
            <a:endParaRPr lang="en-US" sz="1500" dirty="0"/>
          </a:p>
        </p:txBody>
      </p:sp>
      <p:sp>
        <p:nvSpPr>
          <p:cNvPr id="30" name="seta versao 3"/>
          <p:cNvSpPr/>
          <p:nvPr/>
        </p:nvSpPr>
        <p:spPr>
          <a:xfrm>
            <a:off x="9400032" y="3017520"/>
            <a:ext cx="16459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card v3"/>
          <p:cNvSpPr/>
          <p:nvPr/>
        </p:nvSpPr>
        <p:spPr>
          <a:xfrm>
            <a:off x="9582912" y="1508760"/>
            <a:ext cx="2057400" cy="30175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32" name="v3 circle"/>
          <p:cNvSpPr/>
          <p:nvPr/>
        </p:nvSpPr>
        <p:spPr>
          <a:xfrm>
            <a:off x="9857232" y="17830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v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851" y="1936699"/>
            <a:ext cx="332842" cy="33284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857232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2600" dirty="0"/>
          </a:p>
        </p:txBody>
      </p:sp>
      <p:sp>
        <p:nvSpPr>
          <p:cNvPr id="35" name="Text 28"/>
          <p:cNvSpPr txBox="1"/>
          <p:nvPr/>
        </p:nvSpPr>
        <p:spPr>
          <a:xfrm>
            <a:off x="9857232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Em seguida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9857232" y="3520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Dados e IA</a:t>
            </a:r>
            <a:endParaRPr lang="en-US" sz="1500" dirty="0"/>
          </a:p>
        </p:txBody>
      </p:sp>
      <p:sp>
        <p:nvSpPr>
          <p:cNvPr id="37" name="marco publicacao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38" name="publicacao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publicacao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5274259"/>
            <a:ext cx="332842" cy="33284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737360" y="4892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Fim da semana 12: v1 no ar.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 site fica publicado enquanto a v2 e a v3 evoluem.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Peça 0 e MVP: a jornada principal pela API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Peça 0: repositório no GitLab com espelho no GitHub, Docker Compose, Alembic, /health e CI verde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Autenticação JWT e papéis cliente, comercial e admin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Cadastro do cliente e solicitação de orçamento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Proposta: envio, aceite, recusa e pedido de revisão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Máquina de estados com histórico de eventos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Sinal de 50% pelo Stripe em modo teste, webhook idempotente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Testes de cada transição válida e inválida, teste de concorrência</a:t>
            </a:r>
            <a:endParaRPr lang="en-US" sz="1700" dirty="0"/>
          </a:p>
        </p:txBody>
      </p:sp>
      <p:sp>
        <p:nvSpPr>
          <p:cNvPr id="5" name="pronto quando"/>
          <p:cNvSpPr/>
          <p:nvPr/>
        </p:nvSpPr>
        <p:spPr>
          <a:xfrm>
            <a:off x="7498080" y="1325880"/>
            <a:ext cx="4142232" cy="475488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6" name="pronto circle"/>
          <p:cNvSpPr/>
          <p:nvPr/>
        </p:nvSpPr>
        <p:spPr>
          <a:xfrm>
            <a:off x="7818120" y="1645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819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49640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quando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4688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jornada solicitação → proposta → aceite → sinal pago roda inteira pela API, e cada transição tem teste passando no CI.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Roda localmente. Semanas 1 a 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v1: completa e publicada na web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Desenvolvimento, homologação, entrega e pagamento final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Papéis financeiro, TI e marketing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Outbox + worker: notificações por e-mail sem perder mensagem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S3: anexos, PDF da proposta e backup do banco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Deploy na EC2 pelo GitLab CI, IAM com menor privilégio, HTTPS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Logs estruturados com request_id e métricas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Portal Next.js mínimo + testes E2E com Playwright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Teste de carga com k6, README em inglês e vídeo de demo</a:t>
            </a:r>
            <a:endParaRPr lang="en-US" sz="1700" dirty="0"/>
          </a:p>
        </p:txBody>
      </p:sp>
      <p:sp>
        <p:nvSpPr>
          <p:cNvPr id="5" name="pronto quando"/>
          <p:cNvSpPr/>
          <p:nvPr/>
        </p:nvSpPr>
        <p:spPr>
          <a:xfrm>
            <a:off x="7498080" y="1325880"/>
            <a:ext cx="4142232" cy="475488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6" name="pronto circle"/>
          <p:cNvSpPr/>
          <p:nvPr/>
        </p:nvSpPr>
        <p:spPr>
          <a:xfrm>
            <a:off x="7818120" y="1645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819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49640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quando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4688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Um visitante faz a jornada completa no navegador, num link público, e o pipeline publica sozinho a cada merge.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Semanas 7 a 12. A partir daqui o site fica no 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Depois de publicar: v2 e v3</a:t>
            </a:r>
            <a:endParaRPr lang="en-US" sz="3400" dirty="0"/>
          </a:p>
        </p:txBody>
      </p:sp>
      <p:sp>
        <p:nvSpPr>
          <p:cNvPr id="3" name="card v2 · Escala e confiabilidade"/>
          <p:cNvSpPr/>
          <p:nvPr/>
        </p:nvSpPr>
        <p:spPr>
          <a:xfrm>
            <a:off x="548640" y="1371600"/>
            <a:ext cx="5449824" cy="4617720"/>
          </a:xfrm>
          <a:prstGeom prst="roundRect">
            <a:avLst>
              <a:gd name="adj" fmla="val 1584"/>
            </a:avLst>
          </a:prstGeom>
          <a:solidFill>
            <a:schemeClr val="bg2"/>
          </a:solidFill>
          <a:ln/>
        </p:spPr>
      </p:sp>
      <p:sp>
        <p:nvSpPr>
          <p:cNvPr id="4" name="v2 · Escala e confiabilidade circle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v2 · Escala e confiabilidad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· Escala e confiabilidade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Vencimento automático do sinal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Fila no SQS e cache no Redis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Rate limit e tracing com OpenTelemetry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Terraform para a infraestrutura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Documento “Do MVP a 1 milhão de usuários” com os números reais do k6</a:t>
            </a:r>
            <a:endParaRPr lang="en-US" sz="1700" dirty="0"/>
          </a:p>
        </p:txBody>
      </p:sp>
      <p:sp>
        <p:nvSpPr>
          <p:cNvPr id="8" name="card v3 · Dados e IA"/>
          <p:cNvSpPr/>
          <p:nvPr/>
        </p:nvSpPr>
        <p:spPr>
          <a:xfrm>
            <a:off x="6190488" y="1371600"/>
            <a:ext cx="5449824" cy="4617720"/>
          </a:xfrm>
          <a:prstGeom prst="roundRect">
            <a:avLst>
              <a:gd name="adj" fmla="val 1584"/>
            </a:avLst>
          </a:prstGeom>
          <a:solidFill>
            <a:schemeClr val="bg2"/>
          </a:solidFill>
          <a:ln/>
        </p:spPr>
      </p:sp>
      <p:sp>
        <p:nvSpPr>
          <p:cNvPr id="9" name="v3 · Dados e IA circle"/>
          <p:cNvSpPr/>
          <p:nvPr/>
        </p:nvSpPr>
        <p:spPr>
          <a:xfrm>
            <a:off x="6510528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v3 · Dados e IA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47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3488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· Dados e IA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10528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Eventos do S3 para o Databricks, com PySpark na silver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Contrato de dados: schema Pydantic de cada evento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DAG no Airflow: Postgres → S3 → Job do Databricks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Gold em modelo dimensional (fatos e dimensões)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Triagem de solicitações com LLM e humano no circuito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Regras que valem para todas as versões</a:t>
            </a:r>
            <a:endParaRPr lang="en-US" sz="3400" dirty="0"/>
          </a:p>
        </p:txBody>
      </p:sp>
      <p:sp>
        <p:nvSpPr>
          <p:cNvPr id="3" name="regra Nada entra sem teste"/>
          <p:cNvSpPr/>
          <p:nvPr/>
        </p:nvSpPr>
        <p:spPr>
          <a:xfrm>
            <a:off x="548640" y="1371600"/>
            <a:ext cx="544982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Nada entra sem teste circle"/>
          <p:cNvSpPr/>
          <p:nvPr/>
        </p:nvSpPr>
        <p:spPr>
          <a:xfrm>
            <a:off x="822960" y="17556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ada entra sem tes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1900489"/>
            <a:ext cx="313822" cy="3138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72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entra sem teste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 regra de negócio tem teste e o CI fica verde</a:t>
            </a:r>
            <a:endParaRPr lang="en-US" sz="1500" dirty="0"/>
          </a:p>
        </p:txBody>
      </p:sp>
      <p:sp>
        <p:nvSpPr>
          <p:cNvPr id="8" name="regra Decisão vira ADR"/>
          <p:cNvSpPr/>
          <p:nvPr/>
        </p:nvSpPr>
        <p:spPr>
          <a:xfrm>
            <a:off x="6190488" y="1371600"/>
            <a:ext cx="544982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Decisão vira ADR circle"/>
          <p:cNvSpPr/>
          <p:nvPr/>
        </p:nvSpPr>
        <p:spPr>
          <a:xfrm>
            <a:off x="6464808" y="17556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ecisão vira AD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649" y="1900489"/>
            <a:ext cx="313822" cy="31382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7768" y="1572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vira ADR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287768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Contexto, escolha e consequência, em poucas linhas</a:t>
            </a:r>
            <a:endParaRPr lang="en-US" sz="1500" dirty="0"/>
          </a:p>
        </p:txBody>
      </p:sp>
      <p:sp>
        <p:nvSpPr>
          <p:cNvPr id="13" name="regra Diário de engenharia"/>
          <p:cNvSpPr/>
          <p:nvPr/>
        </p:nvSpPr>
        <p:spPr>
          <a:xfrm>
            <a:off x="548640" y="2971800"/>
            <a:ext cx="544982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Diário de engenharia circle"/>
          <p:cNvSpPr/>
          <p:nvPr/>
        </p:nvSpPr>
        <p:spPr>
          <a:xfrm>
            <a:off x="822960" y="33558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Diário de engenharia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3500689"/>
            <a:ext cx="313822" cy="3138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172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Diário de engenharia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quebrou, por quê e como resolvi</a:t>
            </a:r>
            <a:endParaRPr lang="en-US" sz="1500" dirty="0"/>
          </a:p>
        </p:txBody>
      </p:sp>
      <p:sp>
        <p:nvSpPr>
          <p:cNvPr id="18" name="regra Regra só na API"/>
          <p:cNvSpPr/>
          <p:nvPr/>
        </p:nvSpPr>
        <p:spPr>
          <a:xfrm>
            <a:off x="6190488" y="2971800"/>
            <a:ext cx="544982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Regra só na API circle"/>
          <p:cNvSpPr/>
          <p:nvPr/>
        </p:nvSpPr>
        <p:spPr>
          <a:xfrm>
            <a:off x="6464808" y="33558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Regra só na API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649" y="3500689"/>
            <a:ext cx="313822" cy="31382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87768" y="3172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só na API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287768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front apenas exibe e chama a API</a:t>
            </a:r>
            <a:endParaRPr lang="en-US" sz="1500" dirty="0"/>
          </a:p>
        </p:txBody>
      </p:sp>
      <p:sp>
        <p:nvSpPr>
          <p:cNvPr id="23" name="regra Nenhuma chave no código"/>
          <p:cNvSpPr/>
          <p:nvPr/>
        </p:nvSpPr>
        <p:spPr>
          <a:xfrm>
            <a:off x="548640" y="4572000"/>
            <a:ext cx="544982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4" name="Nenhuma chave no código circle"/>
          <p:cNvSpPr/>
          <p:nvPr/>
        </p:nvSpPr>
        <p:spPr>
          <a:xfrm>
            <a:off x="822960" y="4956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Nenhuma chave no código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01" y="5100889"/>
            <a:ext cx="313822" cy="31382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47731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chave no código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164592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Permissões por role, segredos fora do repositório</a:t>
            </a:r>
            <a:endParaRPr lang="en-US" sz="1500" dirty="0"/>
          </a:p>
        </p:txBody>
      </p:sp>
      <p:sp>
        <p:nvSpPr>
          <p:cNvPr id="28" name="regra Teto de R$ 60 por mês"/>
          <p:cNvSpPr/>
          <p:nvPr/>
        </p:nvSpPr>
        <p:spPr>
          <a:xfrm>
            <a:off x="6190488" y="4572000"/>
            <a:ext cx="544982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Teto de R$ 60 por mês circle"/>
          <p:cNvSpPr/>
          <p:nvPr/>
        </p:nvSpPr>
        <p:spPr>
          <a:xfrm>
            <a:off x="6464808" y="4956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Teto de R$ 60 por mê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649" y="5100889"/>
            <a:ext cx="313822" cy="31382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87768" y="47731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Teto de R$ 60 por mês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7287768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Alerta de orçamento antes de qualquer recurso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Riscos e como cada um é contido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Risco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Mitigação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Prazo de 12 semanas estourar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Escopo fechado neste deck; corte começa pelo que está na v2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Conta da AWS passar do teto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Alerta de orçamento, EC2 pequena, sem NAT Gateway nem load balancer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Front fora da zona de conforto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Biblioteca de componentes, Claude Code, uma tela por vez, Playwright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Não saber explicar o que foi gerado por IA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Ler cada diff, pedir o porquê, commit por tela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Inglês nas vagas internacionais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README em inglês e prática diária em paralelo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Algoritmos nas entrevistas de big tech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a 4 horas por semana a partir do MVP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Primeiros passos desta semana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1. Semana 0: ferramentas instaladas e contas GitLab, GitHub e Stripe (teste)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2. Repositório no GitLab com espelho no GitHub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3. Peça 0 com CI verde (a conta AWS abre na semana 8)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 acordo:  ______________________________     Data:  ____ / ____ /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zymandias">
  <a:themeElements>
    <a:clrScheme name="Ozymandias">
      <a:dk1>
        <a:srgbClr val="1E1B18"/>
      </a:dk1>
      <a:lt1>
        <a:srgbClr val="FFFFFF"/>
      </a:lt1>
      <a:dk2>
        <a:srgbClr val="2A2622"/>
      </a:dk2>
      <a:lt2>
        <a:srgbClr val="EFEDE9"/>
      </a:lt2>
      <a:accent1>
        <a:srgbClr val="C08A2E"/>
      </a:accent1>
      <a:accent2>
        <a:srgbClr val="3D6B66"/>
      </a:accent2>
      <a:accent3>
        <a:srgbClr val="A8473A"/>
      </a:accent3>
      <a:accent4>
        <a:srgbClr val="6E6A63"/>
      </a:accent4>
      <a:accent5>
        <a:srgbClr val="E7D3A8"/>
      </a:accent5>
      <a:accent6>
        <a:srgbClr val="CFE0DD"/>
      </a:accent6>
      <a:hlink>
        <a:srgbClr val="3D6B66"/>
      </a:hlink>
      <a:folHlink>
        <a:srgbClr val="6E6A63"/>
      </a:folHlink>
    </a:clrScheme>
    <a:fontScheme name="Ozymandi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Ozymandias — Contrato do projeto</dc:title>
  <dc:subject>PptxGenJS Presentation</dc:subject>
  <dc:creator>Guilherme Nascimento Silva</dc:creator>
  <cp:lastModifiedBy>Guilherme Nascimento Silva</cp:lastModifiedBy>
  <cp:revision>1</cp:revision>
  <dcterms:created xsi:type="dcterms:W3CDTF">2026-10-04T19:36:46Z</dcterms:created>
  <dcterms:modified xsi:type="dcterms:W3CDTF">2026-10-04T19:36:46Z</dcterms:modified>
</cp:coreProperties>
</file>